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random</c:v>
                </c:pt>
              </c:strCache>
            </c:strRef>
          </c:tx>
          <c:spPr>
            <a:solidFill>
              <a:srgbClr val="4472c4"/>
            </a:solidFill>
            <a:ln cap="rnd" w="28440">
              <a:solidFill>
                <a:srgbClr val="4472c4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1.0</c:v>
                </c:pt>
                <c:pt idx="1">
                  <c:v>1.5</c:v>
                </c:pt>
                <c:pt idx="2">
                  <c:v>2.0</c:v>
                </c:pt>
                <c:pt idx="3">
                  <c:v>2.5</c:v>
                </c:pt>
                <c:pt idx="4">
                  <c:v>3.0</c:v>
                </c:pt>
                <c:pt idx="5">
                  <c:v>3.5</c:v>
                </c:pt>
                <c:pt idx="6">
                  <c:v>4.0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7"/>
                <c:pt idx="0">
                  <c:v>38.4</c:v>
                </c:pt>
                <c:pt idx="1">
                  <c:v>36.78</c:v>
                </c:pt>
                <c:pt idx="2">
                  <c:v>36.17</c:v>
                </c:pt>
                <c:pt idx="3">
                  <c:v>35.35</c:v>
                </c:pt>
                <c:pt idx="4">
                  <c:v>34.59</c:v>
                </c:pt>
                <c:pt idx="5">
                  <c:v>33.65</c:v>
                </c:pt>
                <c:pt idx="6">
                  <c:v>32.95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l1</c:v>
                </c:pt>
              </c:strCache>
            </c:strRef>
          </c:tx>
          <c:spPr>
            <a:solidFill>
              <a:srgbClr val="ed7d31"/>
            </a:solidFill>
            <a:ln cap="rnd" w="28440">
              <a:solidFill>
                <a:srgbClr val="ed7d31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1.0</c:v>
                </c:pt>
                <c:pt idx="1">
                  <c:v>1.5</c:v>
                </c:pt>
                <c:pt idx="2">
                  <c:v>2.0</c:v>
                </c:pt>
                <c:pt idx="3">
                  <c:v>2.5</c:v>
                </c:pt>
                <c:pt idx="4">
                  <c:v>3.0</c:v>
                </c:pt>
                <c:pt idx="5">
                  <c:v>3.5</c:v>
                </c:pt>
                <c:pt idx="6">
                  <c:v>4.0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7"/>
                <c:pt idx="0">
                  <c:v>38.4</c:v>
                </c:pt>
                <c:pt idx="1">
                  <c:v>37.67</c:v>
                </c:pt>
                <c:pt idx="2">
                  <c:v>34.85</c:v>
                </c:pt>
                <c:pt idx="3">
                  <c:v>30.3</c:v>
                </c:pt>
                <c:pt idx="4">
                  <c:v>25.68</c:v>
                </c:pt>
                <c:pt idx="5">
                  <c:v>20.29</c:v>
                </c:pt>
                <c:pt idx="6">
                  <c:v>20.19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label 2</c:f>
              <c:strCache>
                <c:ptCount val="1"/>
                <c:pt idx="0">
                  <c:v>lamp</c:v>
                </c:pt>
              </c:strCache>
            </c:strRef>
          </c:tx>
          <c:spPr>
            <a:solidFill>
              <a:srgbClr val="a5a5a5"/>
            </a:solidFill>
            <a:ln cap="rnd" w="28440">
              <a:solidFill>
                <a:srgbClr val="a5a5a5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1.0</c:v>
                </c:pt>
                <c:pt idx="1">
                  <c:v>1.5</c:v>
                </c:pt>
                <c:pt idx="2">
                  <c:v>2.0</c:v>
                </c:pt>
                <c:pt idx="3">
                  <c:v>2.5</c:v>
                </c:pt>
                <c:pt idx="4">
                  <c:v>3.0</c:v>
                </c:pt>
                <c:pt idx="5">
                  <c:v>3.5</c:v>
                </c:pt>
                <c:pt idx="6">
                  <c:v>4.0</c:v>
                </c:pt>
              </c:strCache>
            </c:strRef>
          </c:cat>
          <c:val>
            <c:numRef>
              <c:f>2</c:f>
              <c:numCache>
                <c:formatCode>General</c:formatCode>
                <c:ptCount val="7"/>
                <c:pt idx="0">
                  <c:v>38.4</c:v>
                </c:pt>
                <c:pt idx="1">
                  <c:v>38.14</c:v>
                </c:pt>
                <c:pt idx="2">
                  <c:v>36.76</c:v>
                </c:pt>
                <c:pt idx="3">
                  <c:v>35.17</c:v>
                </c:pt>
                <c:pt idx="4">
                  <c:v>33.72</c:v>
                </c:pt>
                <c:pt idx="5">
                  <c:v>32.25</c:v>
                </c:pt>
                <c:pt idx="6">
                  <c:v>31.73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label 3</c:f>
              <c:strCache>
                <c:ptCount val="1"/>
                <c:pt idx="0">
                  <c:v>slim</c:v>
                </c:pt>
              </c:strCache>
            </c:strRef>
          </c:tx>
          <c:spPr>
            <a:solidFill>
              <a:srgbClr val="ffc000"/>
            </a:solidFill>
            <a:ln cap="rnd" w="28440">
              <a:solidFill>
                <a:srgbClr val="ffc000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1.0</c:v>
                </c:pt>
                <c:pt idx="1">
                  <c:v>1.5</c:v>
                </c:pt>
                <c:pt idx="2">
                  <c:v>2.0</c:v>
                </c:pt>
                <c:pt idx="3">
                  <c:v>2.5</c:v>
                </c:pt>
                <c:pt idx="4">
                  <c:v>3.0</c:v>
                </c:pt>
                <c:pt idx="5">
                  <c:v>3.5</c:v>
                </c:pt>
                <c:pt idx="6">
                  <c:v>4.0</c:v>
                </c:pt>
              </c:strCache>
            </c:strRef>
          </c:cat>
          <c:val>
            <c:numRef>
              <c:f>3</c:f>
              <c:numCache>
                <c:formatCode>General</c:formatCode>
                <c:ptCount val="7"/>
                <c:pt idx="0">
                  <c:v>38.4</c:v>
                </c:pt>
                <c:pt idx="1">
                  <c:v>30.22</c:v>
                </c:pt>
                <c:pt idx="2">
                  <c:v>24.8</c:v>
                </c:pt>
                <c:pt idx="3">
                  <c:v>17.22</c:v>
                </c:pt>
                <c:pt idx="4">
                  <c:v>11.32</c:v>
                </c:pt>
                <c:pt idx="5">
                  <c:v>6.43</c:v>
                </c:pt>
                <c:pt idx="6">
                  <c:v>5.904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label 4</c:f>
              <c:strCache>
                <c:ptCount val="1"/>
                <c:pt idx="0">
                  <c:v>group_slim</c:v>
                </c:pt>
              </c:strCache>
            </c:strRef>
          </c:tx>
          <c:spPr>
            <a:solidFill>
              <a:srgbClr val="5b9bd5"/>
            </a:solidFill>
            <a:ln cap="rnd" w="28440">
              <a:solidFill>
                <a:srgbClr val="5b9bd5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1.0</c:v>
                </c:pt>
                <c:pt idx="1">
                  <c:v>1.5</c:v>
                </c:pt>
                <c:pt idx="2">
                  <c:v>2.0</c:v>
                </c:pt>
                <c:pt idx="3">
                  <c:v>2.5</c:v>
                </c:pt>
                <c:pt idx="4">
                  <c:v>3.0</c:v>
                </c:pt>
                <c:pt idx="5">
                  <c:v>3.5</c:v>
                </c:pt>
                <c:pt idx="6">
                  <c:v>4.0</c:v>
                </c:pt>
              </c:strCache>
            </c:strRef>
          </c:cat>
          <c:val>
            <c:numRef>
              <c:f>4</c:f>
              <c:numCache>
                <c:formatCode>General</c:formatCode>
                <c:ptCount val="7"/>
                <c:pt idx="0">
                  <c:v>38.4</c:v>
                </c:pt>
                <c:pt idx="1">
                  <c:v>30.06</c:v>
                </c:pt>
                <c:pt idx="2">
                  <c:v>24.65</c:v>
                </c:pt>
                <c:pt idx="3">
                  <c:v>17.19</c:v>
                </c:pt>
                <c:pt idx="4">
                  <c:v>11.24</c:v>
                </c:pt>
                <c:pt idx="5">
                  <c:v>7.608</c:v>
                </c:pt>
                <c:pt idx="6">
                  <c:v>6.098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label 5</c:f>
              <c:strCache>
                <c:ptCount val="1"/>
                <c:pt idx="0">
                  <c:v>group_norm</c:v>
                </c:pt>
              </c:strCache>
            </c:strRef>
          </c:tx>
          <c:spPr>
            <a:solidFill>
              <a:srgbClr val="70ad47"/>
            </a:solidFill>
            <a:ln cap="rnd" w="28440">
              <a:solidFill>
                <a:srgbClr val="70ad47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1.0</c:v>
                </c:pt>
                <c:pt idx="1">
                  <c:v>1.5</c:v>
                </c:pt>
                <c:pt idx="2">
                  <c:v>2.0</c:v>
                </c:pt>
                <c:pt idx="3">
                  <c:v>2.5</c:v>
                </c:pt>
                <c:pt idx="4">
                  <c:v>3.0</c:v>
                </c:pt>
                <c:pt idx="5">
                  <c:v>3.5</c:v>
                </c:pt>
                <c:pt idx="6">
                  <c:v>4.0</c:v>
                </c:pt>
              </c:strCache>
            </c:strRef>
          </c:cat>
          <c:val>
            <c:numRef>
              <c:f>5</c:f>
              <c:numCache>
                <c:formatCode>General</c:formatCode>
                <c:ptCount val="7"/>
                <c:pt idx="0">
                  <c:v>38.4</c:v>
                </c:pt>
                <c:pt idx="1">
                  <c:v>30.63</c:v>
                </c:pt>
                <c:pt idx="2">
                  <c:v>22.99</c:v>
                </c:pt>
                <c:pt idx="3">
                  <c:v>15.63</c:v>
                </c:pt>
                <c:pt idx="4">
                  <c:v>10.67</c:v>
                </c:pt>
                <c:pt idx="5">
                  <c:v>7.787</c:v>
                </c:pt>
                <c:pt idx="6">
                  <c:v>4.643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label 6</c:f>
              <c:strCache>
                <c:ptCount val="1"/>
                <c:pt idx="0">
                  <c:v>group_sl</c:v>
                </c:pt>
              </c:strCache>
            </c:strRef>
          </c:tx>
          <c:spPr>
            <a:solidFill>
              <a:srgbClr val="264478"/>
            </a:solidFill>
            <a:ln cap="rnd" w="28440">
              <a:solidFill>
                <a:srgbClr val="264478"/>
              </a:solidFill>
              <a:round/>
            </a:ln>
          </c:spPr>
          <c:marker>
            <c:symbol val="none"/>
          </c:marker>
          <c:dLbls>
            <c:txPr>
              <a:bodyPr wrap="square"/>
              <a:lstStyle/>
              <a:p>
                <a:pPr>
                  <a:defRPr b="0" sz="1000" spc="-1" strike="noStrike">
                    <a:solidFill>
                      <a:srgbClr val="000000"/>
                    </a:solidFill>
                    <a:latin typeface="Calibri"/>
                  </a:defRPr>
                </a:pPr>
              </a:p>
            </c:txPr>
            <c:dLblPos val="r"/>
            <c:showLegendKey val="0"/>
            <c:showVal val="0"/>
            <c:showCatName val="0"/>
            <c:showSerName val="0"/>
            <c:showPercent val="0"/>
            <c:separator>;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7"/>
                <c:pt idx="0">
                  <c:v>1.0</c:v>
                </c:pt>
                <c:pt idx="1">
                  <c:v>1.5</c:v>
                </c:pt>
                <c:pt idx="2">
                  <c:v>2.0</c:v>
                </c:pt>
                <c:pt idx="3">
                  <c:v>2.5</c:v>
                </c:pt>
                <c:pt idx="4">
                  <c:v>3.0</c:v>
                </c:pt>
                <c:pt idx="5">
                  <c:v>3.5</c:v>
                </c:pt>
                <c:pt idx="6">
                  <c:v>4.0</c:v>
                </c:pt>
              </c:strCache>
            </c:strRef>
          </c:cat>
          <c:val>
            <c:numRef>
              <c:f>6</c:f>
              <c:numCache>
                <c:formatCode>General</c:formatCode>
                <c:ptCount val="7"/>
                <c:pt idx="0">
                  <c:v>38.4</c:v>
                </c:pt>
                <c:pt idx="1">
                  <c:v>35.1</c:v>
                </c:pt>
                <c:pt idx="2">
                  <c:v>29.28</c:v>
                </c:pt>
                <c:pt idx="3">
                  <c:v>23.63</c:v>
                </c:pt>
                <c:pt idx="4">
                  <c:v>20.3</c:v>
                </c:pt>
                <c:pt idx="5">
                  <c:v>16.78</c:v>
                </c:pt>
                <c:pt idx="6">
                  <c:v>12.92</c:v>
                </c:pt>
              </c:numCache>
            </c:numRef>
          </c:val>
          <c:smooth val="0"/>
        </c:ser>
        <c:hiLowLines>
          <c:spPr>
            <a:ln w="0">
              <a:noFill/>
            </a:ln>
          </c:spPr>
        </c:hiLowLines>
        <c:marker val="0"/>
        <c:axId val="66371247"/>
        <c:axId val="1518936"/>
      </c:lineChart>
      <c:catAx>
        <c:axId val="66371247"/>
        <c:scaling>
          <c:orientation val="minMax"/>
        </c:scaling>
        <c:delete val="0"/>
        <c:axPos val="b"/>
        <c:numFmt formatCode="0.0" sourceLinked="0"/>
        <c:majorTickMark val="none"/>
        <c:minorTickMark val="none"/>
        <c:tickLblPos val="nextTo"/>
        <c:spPr>
          <a:ln w="9360">
            <a:solidFill>
              <a:srgbClr val="d9d9d9"/>
            </a:solidFill>
            <a:round/>
          </a:ln>
        </c:spPr>
        <c:txPr>
          <a:bodyPr/>
          <a:lstStyle/>
          <a:p>
            <a:pPr>
              <a:defRPr b="0" sz="900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1518936"/>
        <c:crosses val="autoZero"/>
        <c:auto val="1"/>
        <c:lblAlgn val="ctr"/>
        <c:lblOffset val="100"/>
        <c:noMultiLvlLbl val="0"/>
      </c:catAx>
      <c:valAx>
        <c:axId val="1518936"/>
        <c:scaling>
          <c:orientation val="minMax"/>
        </c:scaling>
        <c:delete val="0"/>
        <c:axPos val="l"/>
        <c:majorGridlines>
          <c:spPr>
            <a:ln w="9360">
              <a:solidFill>
                <a:srgbClr val="d9d9d9"/>
              </a:solidFill>
              <a:round/>
            </a:ln>
          </c:spPr>
        </c:majorGridlines>
        <c:numFmt formatCode="0.00" sourceLinked="0"/>
        <c:majorTickMark val="none"/>
        <c:minorTickMark val="none"/>
        <c:tickLblPos val="nextTo"/>
        <c:spPr>
          <a:ln w="6480">
            <a:noFill/>
          </a:ln>
        </c:spPr>
        <c:txPr>
          <a:bodyPr/>
          <a:lstStyle/>
          <a:p>
            <a:pPr>
              <a:defRPr b="0" sz="900" spc="-1" strike="noStrike">
                <a:solidFill>
                  <a:srgbClr val="595959"/>
                </a:solidFill>
                <a:latin typeface="Calibri"/>
              </a:defRPr>
            </a:pPr>
          </a:p>
        </c:txPr>
        <c:crossAx val="66371247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b="0" sz="900" spc="-1" strike="noStrike">
              <a:solidFill>
                <a:srgbClr val="595959"/>
              </a:solidFill>
              <a:latin typeface="Calibri"/>
            </a:defRPr>
          </a:pPr>
        </a:p>
      </c:txPr>
    </c:legend>
    <c:plotVisOnly val="1"/>
    <c:dispBlanksAs val="gap"/>
  </c:chart>
  <c:spPr>
    <a:noFill/>
    <a:ln w="936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C935A3A-7E1E-4780-9D6B-23EB6BF98CF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1122480"/>
            <a:ext cx="77720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A275A3-64CE-4803-B49A-932C591E1B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1122480"/>
            <a:ext cx="77720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958DB1-D881-41F0-849A-CB96CE7A80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1122480"/>
            <a:ext cx="77720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3B607D-0523-4219-8FAB-1935D447189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85800" y="1122480"/>
            <a:ext cx="77720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D7E357-4DCD-4CEA-AEE3-C129326A3D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85800" y="1122480"/>
            <a:ext cx="77720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1C79D7-5029-43C2-B65D-D95C135BCB0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85800" y="1122480"/>
            <a:ext cx="77720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13FF9C-3037-4408-8C7E-578022B76B2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85800" y="1122480"/>
            <a:ext cx="77720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00FD8D-3818-437B-9179-FCF35EBAC7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85800" y="1122480"/>
            <a:ext cx="77720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4DC972-2A98-421B-A193-1168A52666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85800" y="1122480"/>
            <a:ext cx="77720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7B8794B-C965-4D10-ADE4-F1451A092EC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85800" y="1122480"/>
            <a:ext cx="77720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49AE58-F0AB-46F5-B40D-C1BD061D893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85800" y="1122480"/>
            <a:ext cx="77720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8FE7768-3FC7-418C-B2AD-DB92D91EE3B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1122480"/>
            <a:ext cx="77720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ko-KR" sz="6000" spc="-1" strike="noStrike">
                <a:solidFill>
                  <a:srgbClr val="000000"/>
                </a:solidFill>
                <a:latin typeface="Calibri Light"/>
              </a:rPr>
              <a:t>마스터 제목 스타일 편집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F4555C0-0664-4B2F-92C4-8F80924A52E2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pytorch.org/get-started/locally/" TargetMode="External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hyperlink" Target="https://github.com/ultralytics/yolov5/releases/download/v1.0/coco2017labels.zip" TargetMode="External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1"/>
          <p:cNvSpPr/>
          <p:nvPr/>
        </p:nvSpPr>
        <p:spPr>
          <a:xfrm>
            <a:off x="-64440" y="1414800"/>
            <a:ext cx="927216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YOLOv7</a:t>
            </a:r>
            <a:r>
              <a:rPr b="1" lang="ko-KR" sz="3200" spc="-1" strike="noStrike">
                <a:solidFill>
                  <a:srgbClr val="000000"/>
                </a:solidFill>
                <a:latin typeface="Calibri"/>
              </a:rPr>
              <a:t>에 </a:t>
            </a:r>
            <a:r>
              <a:rPr b="1" lang="en-US" sz="3200" spc="-1" strike="noStrike">
                <a:solidFill>
                  <a:srgbClr val="000000"/>
                </a:solidFill>
                <a:latin typeface="Calibri"/>
              </a:rPr>
              <a:t>Torch Pruning </a:t>
            </a:r>
            <a:r>
              <a:rPr b="1" lang="ko-KR" sz="3200" spc="-1" strike="noStrike">
                <a:solidFill>
                  <a:srgbClr val="000000"/>
                </a:solidFill>
                <a:latin typeface="Calibri"/>
              </a:rPr>
              <a:t>적용한 결과 보고서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42" name="TextBox 2"/>
          <p:cNvSpPr/>
          <p:nvPr/>
        </p:nvSpPr>
        <p:spPr>
          <a:xfrm>
            <a:off x="3829680" y="4081320"/>
            <a:ext cx="14842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2023.12.22</a:t>
            </a: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1"/>
          <p:cNvSpPr/>
          <p:nvPr/>
        </p:nvSpPr>
        <p:spPr>
          <a:xfrm>
            <a:off x="115560" y="182880"/>
            <a:ext cx="8874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800" spc="-1" strike="noStrike">
                <a:solidFill>
                  <a:srgbClr val="002060"/>
                </a:solidFill>
                <a:latin typeface="Calibri"/>
              </a:rPr>
              <a:t>내용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4" name="TextBox 2"/>
          <p:cNvSpPr/>
          <p:nvPr/>
        </p:nvSpPr>
        <p:spPr>
          <a:xfrm>
            <a:off x="115560" y="552240"/>
            <a:ext cx="887400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>
              <a:lnSpc>
                <a:spcPct val="2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YOLOv7 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설치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2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Torch Pruning 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설치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2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For_yolov7 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설치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2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VisDrone 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학습결과</a:t>
            </a:r>
            <a:endParaRPr b="0" lang="en-US" sz="1800" spc="-1" strike="noStrike">
              <a:latin typeface="Arial"/>
            </a:endParaRPr>
          </a:p>
          <a:p>
            <a:pPr marL="343080" indent="-343080">
              <a:lnSpc>
                <a:spcPct val="200000"/>
              </a:lnSpc>
              <a:buClr>
                <a:srgbClr val="000000"/>
              </a:buClr>
              <a:buFont typeface="StarSymbol"/>
              <a:buAutoNum type="arabicPeriod"/>
            </a:pPr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향후 과제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5" name="직선 연결선 4"/>
          <p:cNvSpPr/>
          <p:nvPr/>
        </p:nvSpPr>
        <p:spPr>
          <a:xfrm>
            <a:off x="244800" y="551880"/>
            <a:ext cx="8606880" cy="36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1"/>
          <p:cNvSpPr/>
          <p:nvPr/>
        </p:nvSpPr>
        <p:spPr>
          <a:xfrm>
            <a:off x="115560" y="182880"/>
            <a:ext cx="8874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2060"/>
                </a:solidFill>
                <a:latin typeface="Calibri"/>
              </a:rPr>
              <a:t>YOLOv7 </a:t>
            </a:r>
            <a:r>
              <a:rPr b="1" lang="ko-KR" sz="1800" spc="-1" strike="noStrike">
                <a:solidFill>
                  <a:srgbClr val="002060"/>
                </a:solidFill>
                <a:latin typeface="Calibri"/>
              </a:rPr>
              <a:t>설치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7" name="TextBox 2"/>
          <p:cNvSpPr/>
          <p:nvPr/>
        </p:nvSpPr>
        <p:spPr>
          <a:xfrm>
            <a:off x="115560" y="552240"/>
            <a:ext cx="8874000" cy="33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* Pytorch 2.1.0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ko-KR" sz="1800" spc="-1" strike="noStrike">
                <a:solidFill>
                  <a:srgbClr val="000000"/>
                </a:solidFill>
                <a:latin typeface="Calibri"/>
              </a:rPr>
              <a:t>설치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$ conda create –n pt2.1.0 python=3.9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$ activate pt2.1.0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$ conda install pytorch torchvision torchaudio pytorch-cuda=11.8 –c pytorch –c nvidia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참고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: </a:t>
            </a:r>
            <a:r>
              <a:rPr b="0" lang="en-US" sz="1800" spc="-1" strike="noStrike" u="sng">
                <a:solidFill>
                  <a:srgbClr val="0563c1"/>
                </a:solidFill>
                <a:uFillTx/>
                <a:latin typeface="Calibri"/>
                <a:hlinkClick r:id="rId1"/>
              </a:rPr>
              <a:t>https://pytorch.org/get-started/locally/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1800" spc="-1" strike="noStrike">
              <a:latin typeface="Arial"/>
            </a:endParaRPr>
          </a:p>
        </p:txBody>
      </p:sp>
      <p:sp>
        <p:nvSpPr>
          <p:cNvPr id="48" name="직선 연결선 3"/>
          <p:cNvSpPr/>
          <p:nvPr/>
        </p:nvSpPr>
        <p:spPr>
          <a:xfrm>
            <a:off x="244800" y="551880"/>
            <a:ext cx="8606880" cy="36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1"/>
          <p:cNvSpPr/>
          <p:nvPr/>
        </p:nvSpPr>
        <p:spPr>
          <a:xfrm>
            <a:off x="115560" y="182880"/>
            <a:ext cx="8874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2060"/>
                </a:solidFill>
                <a:latin typeface="Calibri"/>
              </a:rPr>
              <a:t>YOLOv7 </a:t>
            </a:r>
            <a:r>
              <a:rPr b="1" lang="ko-KR" sz="1800" spc="-1" strike="noStrike">
                <a:solidFill>
                  <a:srgbClr val="002060"/>
                </a:solidFill>
                <a:latin typeface="Calibri"/>
              </a:rPr>
              <a:t>설치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0" name="TextBox 2"/>
          <p:cNvSpPr/>
          <p:nvPr/>
        </p:nvSpPr>
        <p:spPr>
          <a:xfrm>
            <a:off x="115560" y="552240"/>
            <a:ext cx="8874000" cy="502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* </a:t>
            </a: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yolov7 </a:t>
            </a:r>
            <a:r>
              <a:rPr b="1" lang="ko-KR" sz="1800" spc="-1" strike="noStrike">
                <a:solidFill>
                  <a:srgbClr val="000000"/>
                </a:solidFill>
                <a:latin typeface="Calibri"/>
              </a:rPr>
              <a:t>설치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https://github.com/WongKinYiu/yolov7 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코드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clone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하여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, D:/yolov7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에 복사하고 여기로 이동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$ conda create -n yolov7 --clone pt2.1.0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$ activate yolov7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$ pip install -r requirements.txt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$ conda install -c conda-forge pycocotools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* Pt </a:t>
            </a:r>
            <a:r>
              <a:rPr b="1" lang="ko-KR" sz="1800" spc="-1" strike="noStrike">
                <a:solidFill>
                  <a:srgbClr val="000000"/>
                </a:solidFill>
                <a:latin typeface="Calibri"/>
              </a:rPr>
              <a:t>파일 다운로드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https://github.com/WongKinYiu/yolov7/releases/download/v0.1/yolov7.pt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1" name="직선 연결선 3"/>
          <p:cNvSpPr/>
          <p:nvPr/>
        </p:nvSpPr>
        <p:spPr>
          <a:xfrm>
            <a:off x="244800" y="551880"/>
            <a:ext cx="8606880" cy="36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1"/>
          <p:cNvSpPr/>
          <p:nvPr/>
        </p:nvSpPr>
        <p:spPr>
          <a:xfrm>
            <a:off x="115560" y="182880"/>
            <a:ext cx="8874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2060"/>
                </a:solidFill>
                <a:latin typeface="Calibri"/>
              </a:rPr>
              <a:t>YOLOv7 </a:t>
            </a:r>
            <a:r>
              <a:rPr b="1" lang="ko-KR" sz="1800" spc="-1" strike="noStrike">
                <a:solidFill>
                  <a:srgbClr val="002060"/>
                </a:solidFill>
                <a:latin typeface="Calibri"/>
              </a:rPr>
              <a:t>설치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3" name="TextBox 2"/>
          <p:cNvSpPr/>
          <p:nvPr/>
        </p:nvSpPr>
        <p:spPr>
          <a:xfrm>
            <a:off x="115560" y="552240"/>
            <a:ext cx="8874000" cy="585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* Coco dataset </a:t>
            </a:r>
            <a:r>
              <a:rPr b="1" lang="ko-KR" sz="1800" spc="-1" strike="noStrike">
                <a:solidFill>
                  <a:srgbClr val="000000"/>
                </a:solidFill>
                <a:latin typeface="Calibri"/>
              </a:rPr>
              <a:t>설치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bash ./scripts/get_coco.sh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로 다운로드해야 하지만 윈도우즈에선 사용할 수 없어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, 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수동으로 설치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. D:/datasets/coco 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에 설치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1. https://github.com/ultralytics/yolov5/releases 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접속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2. 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아래로 내려가면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v1.0 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부분 있음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3. v1.0 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클릭하여 이동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.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4. coco2017labels.zip 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찾아 다운로드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 u="sng">
                <a:solidFill>
                  <a:srgbClr val="0563c1"/>
                </a:solidFill>
                <a:uFillTx/>
                <a:latin typeface="Calibri"/>
                <a:hlinkClick r:id="rId1"/>
              </a:rPr>
              <a:t>https://github.com/ultralytics/yolov5/releases/download/v1.0/coco2017labels.zip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5. 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다음 파일들 다운로드 후 압축해제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http://images.cocodataset.org/zips/train2017.zip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http://images.cocodataset.org/zips/val2017.zip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http://images.cocodataset.org/zips/test2017.zip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4" name="직선 연결선 3"/>
          <p:cNvSpPr/>
          <p:nvPr/>
        </p:nvSpPr>
        <p:spPr>
          <a:xfrm>
            <a:off x="244800" y="551880"/>
            <a:ext cx="8606880" cy="36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1"/>
          <p:cNvSpPr/>
          <p:nvPr/>
        </p:nvSpPr>
        <p:spPr>
          <a:xfrm>
            <a:off x="115560" y="182880"/>
            <a:ext cx="8874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2060"/>
                </a:solidFill>
                <a:latin typeface="Calibri"/>
              </a:rPr>
              <a:t>YOLOv7 </a:t>
            </a:r>
            <a:r>
              <a:rPr b="1" lang="ko-KR" sz="1800" spc="-1" strike="noStrike">
                <a:solidFill>
                  <a:srgbClr val="002060"/>
                </a:solidFill>
                <a:latin typeface="Calibri"/>
              </a:rPr>
              <a:t>설치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6" name="TextBox 2"/>
          <p:cNvSpPr/>
          <p:nvPr/>
        </p:nvSpPr>
        <p:spPr>
          <a:xfrm>
            <a:off x="115560" y="552240"/>
            <a:ext cx="8874000" cy="21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* Coco</a:t>
            </a:r>
            <a:r>
              <a:rPr b="1" lang="ko-KR" sz="1800" spc="-1" strike="noStrike">
                <a:solidFill>
                  <a:srgbClr val="000000"/>
                </a:solidFill>
                <a:latin typeface="Calibri"/>
              </a:rPr>
              <a:t>에 대해 학습하기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$ python train.py --workers 8 --device 0 --batch-size 32 --data data/coco.yaml --img 640 640 --cfg cfg/training/yolov7.yaml --weights '' --name yolov7 --hyp data/hyp.scratch.p5.yaml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7" name="직선 연결선 3"/>
          <p:cNvSpPr/>
          <p:nvPr/>
        </p:nvSpPr>
        <p:spPr>
          <a:xfrm>
            <a:off x="244800" y="551880"/>
            <a:ext cx="8606880" cy="36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1"/>
          <p:cNvSpPr/>
          <p:nvPr/>
        </p:nvSpPr>
        <p:spPr>
          <a:xfrm>
            <a:off x="115560" y="182880"/>
            <a:ext cx="8874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2060"/>
                </a:solidFill>
                <a:latin typeface="Calibri"/>
              </a:rPr>
              <a:t>YOLOv7 </a:t>
            </a:r>
            <a:r>
              <a:rPr b="1" lang="ko-KR" sz="1800" spc="-1" strike="noStrike">
                <a:solidFill>
                  <a:srgbClr val="002060"/>
                </a:solidFill>
                <a:latin typeface="Calibri"/>
              </a:rPr>
              <a:t>설치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9" name="TextBox 2"/>
          <p:cNvSpPr/>
          <p:nvPr/>
        </p:nvSpPr>
        <p:spPr>
          <a:xfrm>
            <a:off x="115560" y="552240"/>
            <a:ext cx="88740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* VisDrone </a:t>
            </a:r>
            <a:r>
              <a:rPr b="1" lang="ko-KR" sz="1800" spc="-1" strike="noStrike">
                <a:solidFill>
                  <a:srgbClr val="000000"/>
                </a:solidFill>
                <a:latin typeface="Calibri"/>
              </a:rPr>
              <a:t>데이터셋 준비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1. D:/datasets/VisDrone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에 아래와 같이 관련 파일 압축 해제</a:t>
            </a:r>
            <a:endParaRPr b="0" lang="en-US" sz="1800" spc="-1" strike="noStrike">
              <a:latin typeface="Arial"/>
            </a:endParaRPr>
          </a:p>
        </p:txBody>
      </p:sp>
      <p:pic>
        <p:nvPicPr>
          <p:cNvPr id="60" name="그림 3" descr=""/>
          <p:cNvPicPr/>
          <p:nvPr/>
        </p:nvPicPr>
        <p:blipFill>
          <a:blip r:embed="rId1"/>
          <a:stretch/>
        </p:blipFill>
        <p:spPr>
          <a:xfrm>
            <a:off x="231120" y="1518120"/>
            <a:ext cx="5794200" cy="4787280"/>
          </a:xfrm>
          <a:prstGeom prst="rect">
            <a:avLst/>
          </a:prstGeom>
          <a:ln w="0">
            <a:noFill/>
          </a:ln>
        </p:spPr>
      </p:pic>
      <p:sp>
        <p:nvSpPr>
          <p:cNvPr id="61" name="직선 연결선 4"/>
          <p:cNvSpPr/>
          <p:nvPr/>
        </p:nvSpPr>
        <p:spPr>
          <a:xfrm>
            <a:off x="244800" y="551880"/>
            <a:ext cx="8606880" cy="36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2" name="TextBox 5"/>
          <p:cNvSpPr/>
          <p:nvPr/>
        </p:nvSpPr>
        <p:spPr>
          <a:xfrm>
            <a:off x="2647440" y="3244320"/>
            <a:ext cx="41886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c00000"/>
                </a:solidFill>
                <a:latin typeface="Calibri"/>
              </a:rPr>
              <a:t>Label</a:t>
            </a:r>
            <a:r>
              <a:rPr b="0" lang="ko-KR" sz="1800" spc="-1" strike="noStrike">
                <a:solidFill>
                  <a:srgbClr val="c00000"/>
                </a:solidFill>
                <a:latin typeface="Calibri"/>
              </a:rPr>
              <a:t>이 </a:t>
            </a:r>
            <a:r>
              <a:rPr b="0" lang="en-US" sz="1800" spc="-1" strike="noStrike">
                <a:solidFill>
                  <a:srgbClr val="c00000"/>
                </a:solidFill>
                <a:latin typeface="Calibri"/>
              </a:rPr>
              <a:t>yolov7 </a:t>
            </a:r>
            <a:r>
              <a:rPr b="0" lang="ko-KR" sz="1800" spc="-1" strike="noStrike">
                <a:solidFill>
                  <a:srgbClr val="c00000"/>
                </a:solidFill>
                <a:latin typeface="Calibri"/>
              </a:rPr>
              <a:t>형식으로 되어있어야 함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115560" y="182880"/>
            <a:ext cx="8874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2060"/>
                </a:solidFill>
                <a:latin typeface="Calibri"/>
              </a:rPr>
              <a:t>YOLOv7 </a:t>
            </a:r>
            <a:r>
              <a:rPr b="1" lang="ko-KR" sz="1800" spc="-1" strike="noStrike">
                <a:solidFill>
                  <a:srgbClr val="002060"/>
                </a:solidFill>
                <a:latin typeface="Calibri"/>
              </a:rPr>
              <a:t>설치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115560" y="552240"/>
            <a:ext cx="887400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  <a:buNone/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* VisDrone </a:t>
            </a:r>
            <a:r>
              <a:rPr b="1" lang="ko-KR" sz="1800" spc="-1" strike="noStrike">
                <a:solidFill>
                  <a:srgbClr val="000000"/>
                </a:solidFill>
                <a:latin typeface="Calibri"/>
              </a:rPr>
              <a:t>데이터셋 준비</a:t>
            </a:r>
            <a:endParaRPr b="0" lang="en-US" sz="18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2. data directory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에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VisDrone.yaml </a:t>
            </a:r>
            <a:r>
              <a:rPr b="0" lang="ko-KR" sz="1800" spc="-1" strike="noStrike">
                <a:solidFill>
                  <a:srgbClr val="000000"/>
                </a:solidFill>
                <a:latin typeface="Calibri"/>
              </a:rPr>
              <a:t>파일 생성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5" name="직사각형 4"/>
          <p:cNvSpPr/>
          <p:nvPr/>
        </p:nvSpPr>
        <p:spPr>
          <a:xfrm>
            <a:off x="115560" y="1536480"/>
            <a:ext cx="8874000" cy="45651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# train and val data as 1) directory: path/images/, 2) file: path/images.txt, or 3) list: [path1/images/, path2/images/]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train: d:\\datasets\\VisDrone\\VisDrone2019-DET-train\\images  # train images (relative to 'path')  6471 images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val: d:\\datasets\\VisDrone\\VisDrone2019-DET-val\\images  # val images (relative to 'path')  548 images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test: d:\\datasets\\VisDrone\\VisDrone2019-DET-test-dev\\images  # test images (optional)  1610 images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# number of classes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nc: 10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14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# Classes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names: ['pedestrian','people','bicycle','car','van','truck','tricycle','awning-tricycle','bus','motor']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66" name="직선 연결선 5"/>
          <p:cNvSpPr/>
          <p:nvPr/>
        </p:nvSpPr>
        <p:spPr>
          <a:xfrm>
            <a:off x="244800" y="551880"/>
            <a:ext cx="8606880" cy="36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7" name="TextBox 3"/>
          <p:cNvSpPr/>
          <p:nvPr/>
        </p:nvSpPr>
        <p:spPr>
          <a:xfrm>
            <a:off x="3562920" y="2899800"/>
            <a:ext cx="4316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ko-KR" sz="1800" spc="-1" strike="noStrike">
                <a:solidFill>
                  <a:srgbClr val="c00000"/>
                </a:solidFill>
                <a:latin typeface="Calibri"/>
              </a:rPr>
              <a:t>본인 경로에 맞추기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8" name="직사각형 6"/>
          <p:cNvSpPr/>
          <p:nvPr/>
        </p:nvSpPr>
        <p:spPr>
          <a:xfrm>
            <a:off x="154080" y="1968120"/>
            <a:ext cx="5732640" cy="93132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115560" y="182880"/>
            <a:ext cx="8874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2060"/>
                </a:solidFill>
                <a:latin typeface="Calibri"/>
              </a:rPr>
              <a:t>Torch Pruning </a:t>
            </a:r>
            <a:r>
              <a:rPr b="1" lang="ko-KR" sz="1800" spc="-1" strike="noStrike">
                <a:solidFill>
                  <a:srgbClr val="002060"/>
                </a:solidFill>
                <a:latin typeface="Calibri"/>
              </a:rPr>
              <a:t>설치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115560" y="552240"/>
            <a:ext cx="8874000" cy="483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  <a:buNone/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* git</a:t>
            </a:r>
            <a:r>
              <a:rPr b="1" lang="ko-KR" sz="1600" spc="-1" strike="noStrike">
                <a:solidFill>
                  <a:srgbClr val="000000"/>
                </a:solidFill>
                <a:latin typeface="Calibri"/>
              </a:rPr>
              <a:t>으로  소스 설치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$ git clone https://github.com/VainF/Torch-Pruning.git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D:/Torch-Pruning</a:t>
            </a:r>
            <a:r>
              <a:rPr b="0" lang="ko-KR" sz="1600" spc="-1" strike="noStrike">
                <a:solidFill>
                  <a:srgbClr val="000000"/>
                </a:solidFill>
                <a:latin typeface="Calibri"/>
              </a:rPr>
              <a:t>에 설치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* pip </a:t>
            </a:r>
            <a:r>
              <a:rPr b="1" lang="ko-KR" sz="1600" spc="-1" strike="noStrike">
                <a:solidFill>
                  <a:srgbClr val="000000"/>
                </a:solidFill>
                <a:latin typeface="Calibri"/>
              </a:rPr>
              <a:t>으로 라이브러리 설치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$ pip install torch-pruning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* yolov7_torch_pruning </a:t>
            </a:r>
            <a:r>
              <a:rPr b="1" lang="ko-KR" sz="1600" spc="-1" strike="noStrike">
                <a:solidFill>
                  <a:srgbClr val="000000"/>
                </a:solidFill>
                <a:latin typeface="Calibri"/>
              </a:rPr>
              <a:t>디렉토리 만들기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1. D:/yolov7 </a:t>
            </a:r>
            <a:r>
              <a:rPr b="0" lang="ko-KR" sz="1600" spc="-1" strike="noStrike">
                <a:solidFill>
                  <a:srgbClr val="000000"/>
                </a:solidFill>
                <a:latin typeface="Calibri"/>
              </a:rPr>
              <a:t>전체를 복사하여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D:/yolov7_torch_pruning </a:t>
            </a:r>
            <a:r>
              <a:rPr b="0" lang="ko-KR" sz="1600" spc="-1" strike="noStrike">
                <a:solidFill>
                  <a:srgbClr val="000000"/>
                </a:solidFill>
                <a:latin typeface="Calibri"/>
              </a:rPr>
              <a:t>만듦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2. D:/Torch-Pruning/examples/yolov7 </a:t>
            </a:r>
            <a:r>
              <a:rPr b="0" lang="ko-KR" sz="1600" spc="-1" strike="noStrike">
                <a:solidFill>
                  <a:srgbClr val="000000"/>
                </a:solidFill>
                <a:latin typeface="Calibri"/>
              </a:rPr>
              <a:t>에서 아래 두 파일을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D:/yolov7_torch_pruning</a:t>
            </a:r>
            <a:r>
              <a:rPr b="0" lang="ko-KR" sz="1600" spc="-1" strike="noStrike">
                <a:solidFill>
                  <a:srgbClr val="000000"/>
                </a:solidFill>
                <a:latin typeface="Calibri"/>
              </a:rPr>
              <a:t>으로 복사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yolov7_detect_pruned.py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yolov7_train_pruned.py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1" name="직선 연결선 3"/>
          <p:cNvSpPr/>
          <p:nvPr/>
        </p:nvSpPr>
        <p:spPr>
          <a:xfrm>
            <a:off x="244800" y="551880"/>
            <a:ext cx="8606880" cy="36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2" name="TextBox 4"/>
          <p:cNvSpPr/>
          <p:nvPr/>
        </p:nvSpPr>
        <p:spPr>
          <a:xfrm>
            <a:off x="1950840" y="599400"/>
            <a:ext cx="39794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c00000"/>
                </a:solidFill>
                <a:latin typeface="Calibri"/>
              </a:rPr>
              <a:t>(Git</a:t>
            </a:r>
            <a:r>
              <a:rPr b="0" lang="ko-KR" sz="1800" spc="-1" strike="noStrike">
                <a:solidFill>
                  <a:srgbClr val="c00000"/>
                </a:solidFill>
                <a:latin typeface="Calibri"/>
              </a:rPr>
              <a:t>이 없다면 먼저 설치</a:t>
            </a:r>
            <a:r>
              <a:rPr b="0" lang="en-US" sz="1800" spc="-1" strike="noStrike">
                <a:solidFill>
                  <a:srgbClr val="c00000"/>
                </a:solidFill>
                <a:latin typeface="Calibri"/>
              </a:rPr>
              <a:t>)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TextBox 1"/>
          <p:cNvSpPr/>
          <p:nvPr/>
        </p:nvSpPr>
        <p:spPr>
          <a:xfrm>
            <a:off x="115560" y="182880"/>
            <a:ext cx="8874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2060"/>
                </a:solidFill>
                <a:latin typeface="Calibri"/>
              </a:rPr>
              <a:t>For_yolov7</a:t>
            </a:r>
            <a:r>
              <a:rPr b="1" lang="en-US" sz="1800" spc="-1" strike="noStrike">
                <a:solidFill>
                  <a:srgbClr val="002060"/>
                </a:solidFill>
                <a:latin typeface="Calibri"/>
              </a:rPr>
              <a:t> </a:t>
            </a:r>
            <a:r>
              <a:rPr b="1" lang="ko-KR" sz="1800" spc="-1" strike="noStrike">
                <a:solidFill>
                  <a:srgbClr val="002060"/>
                </a:solidFill>
                <a:latin typeface="Calibri"/>
              </a:rPr>
              <a:t>설치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4" name="TextBox 2"/>
          <p:cNvSpPr/>
          <p:nvPr/>
        </p:nvSpPr>
        <p:spPr>
          <a:xfrm>
            <a:off x="115560" y="552240"/>
            <a:ext cx="8874000" cy="227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  <a:buNone/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* </a:t>
            </a: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for_yolov7: yolov7</a:t>
            </a:r>
            <a:r>
              <a:rPr b="1" lang="ko-KR" sz="1600" spc="-1" strike="noStrike">
                <a:solidFill>
                  <a:srgbClr val="000000"/>
                </a:solidFill>
                <a:latin typeface="Calibri"/>
              </a:rPr>
              <a:t>에 </a:t>
            </a: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torch pruning </a:t>
            </a:r>
            <a:r>
              <a:rPr b="1" lang="ko-KR" sz="1600" spc="-1" strike="noStrike">
                <a:solidFill>
                  <a:srgbClr val="000000"/>
                </a:solidFill>
                <a:latin typeface="Calibri"/>
              </a:rPr>
              <a:t>적용하기 위해 개발한 프로그램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* </a:t>
            </a:r>
            <a:r>
              <a:rPr b="0" lang="ko-KR" sz="1600" spc="-1" strike="noStrike">
                <a:solidFill>
                  <a:srgbClr val="000000"/>
                </a:solidFill>
                <a:latin typeface="Calibri"/>
              </a:rPr>
              <a:t>아래 파일들을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D:/yolov7_torch_pruning</a:t>
            </a:r>
            <a:r>
              <a:rPr b="0" lang="ko-KR" sz="1600" spc="-1" strike="noStrike">
                <a:solidFill>
                  <a:srgbClr val="000000"/>
                </a:solidFill>
                <a:latin typeface="Calibri"/>
              </a:rPr>
              <a:t>으로 복사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sparsity_learning.py: yolov7</a:t>
            </a:r>
            <a:r>
              <a:rPr b="0" lang="ko-KR" sz="1600" spc="-1" strike="noStrike">
                <a:solidFill>
                  <a:srgbClr val="000000"/>
                </a:solidFill>
                <a:latin typeface="Calibri"/>
              </a:rPr>
              <a:t>의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train.py</a:t>
            </a:r>
            <a:r>
              <a:rPr b="0" lang="ko-KR" sz="1600" spc="-1" strike="noStrike">
                <a:solidFill>
                  <a:srgbClr val="000000"/>
                </a:solidFill>
                <a:latin typeface="Calibri"/>
              </a:rPr>
              <a:t>에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regularization </a:t>
            </a:r>
            <a:r>
              <a:rPr b="0" lang="ko-KR" sz="1600" spc="-1" strike="noStrike">
                <a:solidFill>
                  <a:srgbClr val="000000"/>
                </a:solidFill>
                <a:latin typeface="Calibri"/>
              </a:rPr>
              <a:t>추가한 버전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Prune_and_finetune.py: yolov7</a:t>
            </a:r>
            <a:r>
              <a:rPr b="0" lang="ko-KR" sz="1600" spc="-1" strike="noStrike">
                <a:solidFill>
                  <a:srgbClr val="000000"/>
                </a:solidFill>
                <a:latin typeface="Calibri"/>
              </a:rPr>
              <a:t>의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train.py</a:t>
            </a:r>
            <a:r>
              <a:rPr b="0" lang="ko-KR" sz="1600" spc="-1" strike="noStrike">
                <a:solidFill>
                  <a:srgbClr val="000000"/>
                </a:solidFill>
                <a:latin typeface="Calibri"/>
              </a:rPr>
              <a:t>에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pruning </a:t>
            </a:r>
            <a:r>
              <a:rPr b="0" lang="ko-KR" sz="1600" spc="-1" strike="noStrike">
                <a:solidFill>
                  <a:srgbClr val="000000"/>
                </a:solidFill>
                <a:latin typeface="Calibri"/>
              </a:rPr>
              <a:t>전처리 추가한 버전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5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batch2_prune_and_finetune.bat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75" name="직선 연결선 3"/>
          <p:cNvSpPr/>
          <p:nvPr/>
        </p:nvSpPr>
        <p:spPr>
          <a:xfrm>
            <a:off x="244800" y="551880"/>
            <a:ext cx="8606880" cy="36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6" name="직사각형 4"/>
          <p:cNvSpPr/>
          <p:nvPr/>
        </p:nvSpPr>
        <p:spPr>
          <a:xfrm>
            <a:off x="115560" y="2490480"/>
            <a:ext cx="2880000" cy="369360"/>
          </a:xfrm>
          <a:prstGeom prst="rect">
            <a:avLst/>
          </a:prstGeom>
          <a:noFill/>
          <a:ln w="19050">
            <a:solidFill>
              <a:srgbClr val="4472c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7" name="TextBox 5"/>
          <p:cNvSpPr/>
          <p:nvPr/>
        </p:nvSpPr>
        <p:spPr>
          <a:xfrm>
            <a:off x="1715760" y="2860560"/>
            <a:ext cx="36745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4472c4"/>
                </a:solidFill>
                <a:latin typeface="Calibri"/>
              </a:rPr>
              <a:t>(</a:t>
            </a:r>
            <a:r>
              <a:rPr b="0" lang="ko-KR" sz="1800" spc="-1" strike="noStrike">
                <a:solidFill>
                  <a:srgbClr val="4472c4"/>
                </a:solidFill>
                <a:latin typeface="Calibri"/>
              </a:rPr>
              <a:t>페이지 </a:t>
            </a:r>
            <a:r>
              <a:rPr b="0" lang="en-US" sz="1800" spc="-1" strike="noStrike">
                <a:solidFill>
                  <a:srgbClr val="4472c4"/>
                </a:solidFill>
                <a:latin typeface="Calibri"/>
              </a:rPr>
              <a:t>12)</a:t>
            </a:r>
            <a:endParaRPr b="0" lang="en-US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115560" y="182880"/>
            <a:ext cx="8874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2060"/>
                </a:solidFill>
                <a:latin typeface="Calibri"/>
              </a:rPr>
              <a:t>For_yolov7</a:t>
            </a:r>
            <a:r>
              <a:rPr b="1" lang="en-US" sz="1800" spc="-1" strike="noStrike">
                <a:solidFill>
                  <a:srgbClr val="002060"/>
                </a:solidFill>
                <a:latin typeface="Calibri"/>
              </a:rPr>
              <a:t> </a:t>
            </a:r>
            <a:r>
              <a:rPr b="1" lang="ko-KR" sz="1800" spc="-1" strike="noStrike">
                <a:solidFill>
                  <a:srgbClr val="002060"/>
                </a:solidFill>
                <a:latin typeface="Calibri"/>
              </a:rPr>
              <a:t>설치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79" name="직사각형 2"/>
          <p:cNvSpPr/>
          <p:nvPr/>
        </p:nvSpPr>
        <p:spPr>
          <a:xfrm>
            <a:off x="115560" y="973800"/>
            <a:ext cx="8700840" cy="520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1. Baseline </a:t>
            </a:r>
            <a:r>
              <a:rPr b="1" lang="ko-KR" sz="1600" spc="-1" strike="noStrike">
                <a:solidFill>
                  <a:srgbClr val="000000"/>
                </a:solidFill>
                <a:latin typeface="Calibri"/>
              </a:rPr>
              <a:t>학습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$ python train.py --workers 8 --device 0 --batch-size 32 --data data/VisDrone.yaml --img 416 416 --cfg cfg/training/yolov7.yaml --weights '' --name yolov7 --hyp data/hyp.scratch.p5.yaml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2. Sparsity learning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$ python sparsity_learning.py --workers 8 --device 0 --batch-size 32 --data data/VisDrone.yaml --img 416 416 --cfg cfg/training/yolov7.yaml --weights </a:t>
            </a:r>
            <a:r>
              <a:rPr b="0" lang="en-US" sz="1600" spc="-1" strike="noStrike">
                <a:solidFill>
                  <a:srgbClr val="0070c0"/>
                </a:solidFill>
                <a:latin typeface="Calibri"/>
              </a:rPr>
              <a:t>runs/train/yolov717_VisDrone_416/weights/best.pt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--name yolov7 --hyp data/hyp.scratch.p5.yaml </a:t>
            </a:r>
            <a:r>
              <a:rPr b="0" lang="en-US" sz="1600" spc="-1" strike="noStrike">
                <a:solidFill>
                  <a:srgbClr val="ff0000"/>
                </a:solidFill>
                <a:latin typeface="Calibri"/>
              </a:rPr>
              <a:t>--method slim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--global-pruning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3. Pruning and finetuning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$ python prune_and_finetune.py --workers 8 --device 0 --batch-size 32 --data data/VisDrone.yaml --img 416 416 --cfg cfg/training/yolov7.yaml --weights </a:t>
            </a:r>
            <a:r>
              <a:rPr b="0" lang="en-US" sz="1600" spc="-1" strike="noStrike">
                <a:solidFill>
                  <a:srgbClr val="0070c0"/>
                </a:solidFill>
                <a:latin typeface="Calibri"/>
              </a:rPr>
              <a:t>D:/yolov7_torch_pruning/runs/train/sparsity_learning_792/weights/best.pt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--name yolov7 --hyp data/hyp.scratch.p5.yaml </a:t>
            </a:r>
            <a:r>
              <a:rPr b="0" lang="en-US" sz="1600" spc="-1" strike="noStrike">
                <a:solidFill>
                  <a:srgbClr val="ff0000"/>
                </a:solidFill>
                <a:latin typeface="Calibri"/>
              </a:rPr>
              <a:t>--speed-up 2.5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--global-pruning </a:t>
            </a:r>
            <a:r>
              <a:rPr b="0" lang="en-US" sz="1600" spc="-1" strike="noStrike">
                <a:solidFill>
                  <a:srgbClr val="ff0000"/>
                </a:solidFill>
                <a:latin typeface="Calibri"/>
              </a:rPr>
              <a:t>--method random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b0f0"/>
                </a:solidFill>
                <a:latin typeface="Calibri"/>
              </a:rPr>
              <a:t>* </a:t>
            </a:r>
            <a:r>
              <a:rPr b="0" lang="ko-KR" sz="1600" spc="-1" strike="noStrike">
                <a:solidFill>
                  <a:srgbClr val="00b0f0"/>
                </a:solidFill>
                <a:latin typeface="Calibri"/>
              </a:rPr>
              <a:t>파란색은 앞단계의 결과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ff0000"/>
                </a:solidFill>
                <a:latin typeface="Calibri"/>
              </a:rPr>
              <a:t>* </a:t>
            </a:r>
            <a:r>
              <a:rPr b="0" lang="ko-KR" sz="1600" spc="-1" strike="noStrike">
                <a:solidFill>
                  <a:srgbClr val="ff0000"/>
                </a:solidFill>
                <a:latin typeface="Calibri"/>
              </a:rPr>
              <a:t>빨간색은 핵심 </a:t>
            </a:r>
            <a:r>
              <a:rPr b="0" lang="en-US" sz="1600" spc="-1" strike="noStrike">
                <a:solidFill>
                  <a:srgbClr val="ff0000"/>
                </a:solidFill>
                <a:latin typeface="Calibri"/>
              </a:rPr>
              <a:t>option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0" name="직선 화살표 연결선 4"/>
          <p:cNvSpPr/>
          <p:nvPr/>
        </p:nvSpPr>
        <p:spPr>
          <a:xfrm flipH="1">
            <a:off x="5477040" y="2054160"/>
            <a:ext cx="169200" cy="4615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1" name="TextBox 5"/>
          <p:cNvSpPr/>
          <p:nvPr/>
        </p:nvSpPr>
        <p:spPr>
          <a:xfrm>
            <a:off x="5574600" y="1869480"/>
            <a:ext cx="2602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b0f0"/>
                </a:solidFill>
                <a:latin typeface="Calibri"/>
              </a:rPr>
              <a:t>Baseline </a:t>
            </a:r>
            <a:r>
              <a:rPr b="0" lang="ko-KR" sz="1800" spc="-1" strike="noStrike">
                <a:solidFill>
                  <a:srgbClr val="00b0f0"/>
                </a:solidFill>
                <a:latin typeface="Calibri"/>
              </a:rPr>
              <a:t>학습의 결과물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2" name="TextBox 8"/>
          <p:cNvSpPr/>
          <p:nvPr/>
        </p:nvSpPr>
        <p:spPr>
          <a:xfrm>
            <a:off x="5561280" y="3060360"/>
            <a:ext cx="3571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b0f0"/>
                </a:solidFill>
                <a:latin typeface="Calibri"/>
              </a:rPr>
              <a:t>Sparsity learning </a:t>
            </a:r>
            <a:r>
              <a:rPr b="0" lang="ko-KR" sz="1800" spc="-1" strike="noStrike">
                <a:solidFill>
                  <a:srgbClr val="00b0f0"/>
                </a:solidFill>
                <a:latin typeface="Calibri"/>
              </a:rPr>
              <a:t>학습의 결과물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3" name="직선 화살표 연결선 9"/>
          <p:cNvSpPr/>
          <p:nvPr/>
        </p:nvSpPr>
        <p:spPr>
          <a:xfrm flipH="1">
            <a:off x="5477040" y="3245040"/>
            <a:ext cx="254160" cy="6926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4472c4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4" name="직선 연결선 12"/>
          <p:cNvSpPr/>
          <p:nvPr/>
        </p:nvSpPr>
        <p:spPr>
          <a:xfrm>
            <a:off x="244800" y="551880"/>
            <a:ext cx="8606880" cy="36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5" name="TextBox 13"/>
          <p:cNvSpPr/>
          <p:nvPr/>
        </p:nvSpPr>
        <p:spPr>
          <a:xfrm>
            <a:off x="115560" y="552240"/>
            <a:ext cx="8874000" cy="45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50000"/>
              </a:lnSpc>
              <a:buNone/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* </a:t>
            </a:r>
            <a:r>
              <a:rPr b="1" lang="ko-KR" sz="1600" spc="-1" strike="noStrike">
                <a:solidFill>
                  <a:srgbClr val="000000"/>
                </a:solidFill>
                <a:latin typeface="Calibri"/>
              </a:rPr>
              <a:t>사용방법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1"/>
          <p:cNvSpPr/>
          <p:nvPr/>
        </p:nvSpPr>
        <p:spPr>
          <a:xfrm>
            <a:off x="115560" y="182880"/>
            <a:ext cx="8874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2060"/>
                </a:solidFill>
                <a:latin typeface="Calibri"/>
              </a:rPr>
              <a:t>For_yolov7</a:t>
            </a:r>
            <a:r>
              <a:rPr b="1" lang="en-US" sz="1800" spc="-1" strike="noStrike">
                <a:solidFill>
                  <a:srgbClr val="002060"/>
                </a:solidFill>
                <a:latin typeface="Calibri"/>
              </a:rPr>
              <a:t> </a:t>
            </a:r>
            <a:r>
              <a:rPr b="1" lang="ko-KR" sz="1800" spc="-1" strike="noStrike">
                <a:solidFill>
                  <a:srgbClr val="002060"/>
                </a:solidFill>
                <a:latin typeface="Calibri"/>
              </a:rPr>
              <a:t>설치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7" name="직사각형 2"/>
          <p:cNvSpPr/>
          <p:nvPr/>
        </p:nvSpPr>
        <p:spPr>
          <a:xfrm>
            <a:off x="115560" y="552240"/>
            <a:ext cx="8700840" cy="10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* Pruning and finetuning</a:t>
            </a:r>
            <a:r>
              <a:rPr b="1" lang="ko-KR" sz="1600" spc="-1" strike="noStrike">
                <a:solidFill>
                  <a:srgbClr val="000000"/>
                </a:solidFill>
                <a:latin typeface="Calibri"/>
              </a:rPr>
              <a:t>만 주로 반복하므로 아래와 같이 </a:t>
            </a: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method</a:t>
            </a:r>
            <a:r>
              <a:rPr b="1" lang="ko-KR" sz="1600" spc="-1" strike="noStrike">
                <a:solidFill>
                  <a:srgbClr val="000000"/>
                </a:solidFill>
                <a:latin typeface="Calibri"/>
              </a:rPr>
              <a:t>와 </a:t>
            </a: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speed-up</a:t>
            </a:r>
            <a:r>
              <a:rPr b="1" lang="ko-KR" sz="1600" spc="-1" strike="noStrike">
                <a:solidFill>
                  <a:srgbClr val="000000"/>
                </a:solidFill>
                <a:latin typeface="Calibri"/>
              </a:rPr>
              <a:t>을 바꿔가면서 반복하는 </a:t>
            </a:r>
            <a:r>
              <a:rPr b="1" lang="en-US" sz="1600" spc="-1" strike="noStrike">
                <a:solidFill>
                  <a:srgbClr val="000000"/>
                </a:solidFill>
                <a:latin typeface="Calibri"/>
              </a:rPr>
              <a:t>batch </a:t>
            </a:r>
            <a:r>
              <a:rPr b="1" lang="ko-KR" sz="1600" spc="-1" strike="noStrike">
                <a:solidFill>
                  <a:srgbClr val="000000"/>
                </a:solidFill>
                <a:latin typeface="Calibri"/>
              </a:rPr>
              <a:t>파일 작성하여 사용</a:t>
            </a: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US" sz="16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Batch2_prune_and_finetune.bat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88" name="직사각형 4"/>
          <p:cNvSpPr/>
          <p:nvPr/>
        </p:nvSpPr>
        <p:spPr>
          <a:xfrm>
            <a:off x="115560" y="1848240"/>
            <a:ext cx="8700840" cy="17946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for %%s in (1.5, 2.0, 2.5, 3.0, 3.5, 4.0) do (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for %%m in (random, l1, lamp, slim, group_slim, group_norm, group_sl) do (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      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python prune_and_finetune.py --workers 8 --device 0 --batch-size 32 --data data/VisDrone.yaml --img 416 416 --cfg cfg/training/yolov7.yaml --weights </a:t>
            </a:r>
            <a:r>
              <a:rPr b="0" lang="en-US" sz="1400" spc="-1" strike="noStrike">
                <a:solidFill>
                  <a:srgbClr val="00b0f0"/>
                </a:solidFill>
                <a:latin typeface="Calibri"/>
              </a:rPr>
              <a:t>D:/yolov7_torch_pruning/runs/train/sparsity_learning_792/weights/best.pt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--name yolov7 --hyp data/hyp.scratch.p5.yaml --speed-up </a:t>
            </a:r>
            <a:r>
              <a:rPr b="0" lang="en-US" sz="1400" spc="-1" strike="noStrike">
                <a:solidFill>
                  <a:srgbClr val="ff0000"/>
                </a:solidFill>
                <a:latin typeface="Calibri"/>
              </a:rPr>
              <a:t>%%s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--global-pruning --method </a:t>
            </a:r>
            <a:r>
              <a:rPr b="0" lang="en-US" sz="1400" spc="-1" strike="noStrike">
                <a:solidFill>
                  <a:srgbClr val="ff0000"/>
                </a:solidFill>
                <a:latin typeface="Calibri"/>
              </a:rPr>
              <a:t>%%m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    </a:t>
            </a: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)</a:t>
            </a:r>
            <a:endParaRPr b="0" lang="en-US" sz="1400" spc="-1" strike="noStrike">
              <a:latin typeface="Arial"/>
            </a:endParaRPr>
          </a:p>
        </p:txBody>
      </p:sp>
      <p:sp>
        <p:nvSpPr>
          <p:cNvPr id="89" name="TextBox 5"/>
          <p:cNvSpPr/>
          <p:nvPr/>
        </p:nvSpPr>
        <p:spPr>
          <a:xfrm>
            <a:off x="2969640" y="1313640"/>
            <a:ext cx="1814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b0f0"/>
                </a:solidFill>
                <a:latin typeface="Calibri"/>
              </a:rPr>
              <a:t>Speed-up </a:t>
            </a:r>
            <a:r>
              <a:rPr b="0" lang="ko-KR" sz="1800" spc="-1" strike="noStrike">
                <a:solidFill>
                  <a:srgbClr val="00b0f0"/>
                </a:solidFill>
                <a:latin typeface="Calibri"/>
              </a:rPr>
              <a:t>값들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0" name="직선 화살표 연결선 7"/>
          <p:cNvSpPr/>
          <p:nvPr/>
        </p:nvSpPr>
        <p:spPr>
          <a:xfrm flipH="1">
            <a:off x="2677320" y="1498320"/>
            <a:ext cx="402480" cy="4024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b0f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1" name="TextBox 8"/>
          <p:cNvSpPr/>
          <p:nvPr/>
        </p:nvSpPr>
        <p:spPr>
          <a:xfrm>
            <a:off x="5276160" y="1531800"/>
            <a:ext cx="1584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b0f0"/>
                </a:solidFill>
                <a:latin typeface="Calibri"/>
              </a:rPr>
              <a:t>Method</a:t>
            </a:r>
            <a:r>
              <a:rPr b="0" lang="en-US" sz="1800" spc="-1" strike="noStrike">
                <a:solidFill>
                  <a:srgbClr val="00b0f0"/>
                </a:solidFill>
                <a:latin typeface="Calibri"/>
              </a:rPr>
              <a:t> </a:t>
            </a:r>
            <a:r>
              <a:rPr b="0" lang="ko-KR" sz="1800" spc="-1" strike="noStrike">
                <a:solidFill>
                  <a:srgbClr val="00b0f0"/>
                </a:solidFill>
                <a:latin typeface="Calibri"/>
              </a:rPr>
              <a:t>종류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직선 화살표 연결선 10"/>
          <p:cNvSpPr/>
          <p:nvPr/>
        </p:nvSpPr>
        <p:spPr>
          <a:xfrm flipH="1">
            <a:off x="5089680" y="1784520"/>
            <a:ext cx="249480" cy="3553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b0f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3" name="직선 연결선 9"/>
          <p:cNvSpPr/>
          <p:nvPr/>
        </p:nvSpPr>
        <p:spPr>
          <a:xfrm>
            <a:off x="244800" y="551880"/>
            <a:ext cx="8606880" cy="36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4" name="TextBox 11"/>
          <p:cNvSpPr/>
          <p:nvPr/>
        </p:nvSpPr>
        <p:spPr>
          <a:xfrm>
            <a:off x="4118760" y="3614040"/>
            <a:ext cx="3571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800" spc="-1" strike="noStrike">
                <a:solidFill>
                  <a:srgbClr val="00b0f0"/>
                </a:solidFill>
                <a:latin typeface="Calibri"/>
              </a:rPr>
              <a:t>Sparsity learning </a:t>
            </a:r>
            <a:r>
              <a:rPr b="0" lang="ko-KR" sz="1800" spc="-1" strike="noStrike">
                <a:solidFill>
                  <a:srgbClr val="00b0f0"/>
                </a:solidFill>
                <a:latin typeface="Calibri"/>
              </a:rPr>
              <a:t>학습의 결과물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5" name="직선 화살표 연결선 12"/>
          <p:cNvSpPr/>
          <p:nvPr/>
        </p:nvSpPr>
        <p:spPr>
          <a:xfrm flipH="1" flipV="1">
            <a:off x="3553200" y="2761920"/>
            <a:ext cx="734760" cy="1036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00b0f0"/>
            </a:solidFill>
            <a:tailEnd len="med" type="triangle" w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Box 1"/>
          <p:cNvSpPr/>
          <p:nvPr/>
        </p:nvSpPr>
        <p:spPr>
          <a:xfrm>
            <a:off x="115560" y="182880"/>
            <a:ext cx="8874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2060"/>
                </a:solidFill>
                <a:latin typeface="Calibri"/>
              </a:rPr>
              <a:t>VisDrone</a:t>
            </a:r>
            <a:r>
              <a:rPr b="1" lang="en-US" sz="1800" spc="-1" strike="noStrike">
                <a:solidFill>
                  <a:srgbClr val="002060"/>
                </a:solidFill>
                <a:latin typeface="Calibri"/>
              </a:rPr>
              <a:t> </a:t>
            </a:r>
            <a:r>
              <a:rPr b="1" lang="ko-KR" sz="1800" spc="-1" strike="noStrike">
                <a:solidFill>
                  <a:srgbClr val="002060"/>
                </a:solidFill>
                <a:latin typeface="Calibri"/>
              </a:rPr>
              <a:t>학습결과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7" name="직선 연결선 2"/>
          <p:cNvSpPr/>
          <p:nvPr/>
        </p:nvSpPr>
        <p:spPr>
          <a:xfrm>
            <a:off x="244800" y="551880"/>
            <a:ext cx="8606880" cy="36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8" name="직사각형 3"/>
          <p:cNvSpPr/>
          <p:nvPr/>
        </p:nvSpPr>
        <p:spPr>
          <a:xfrm>
            <a:off x="115560" y="552240"/>
            <a:ext cx="870084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Speed up: 1.0~4.0,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0.5 </a:t>
            </a:r>
            <a:r>
              <a:rPr b="0" lang="ko-KR" sz="1600" spc="-1" strike="noStrike">
                <a:solidFill>
                  <a:srgbClr val="000000"/>
                </a:solidFill>
                <a:latin typeface="Calibri"/>
              </a:rPr>
              <a:t>간격</a:t>
            </a:r>
            <a:endParaRPr b="0" lang="en-US" sz="16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7</a:t>
            </a:r>
            <a:r>
              <a:rPr b="0" lang="ko-KR" sz="1600" spc="-1" strike="noStrike">
                <a:solidFill>
                  <a:srgbClr val="000000"/>
                </a:solidFill>
                <a:latin typeface="Calibri"/>
              </a:rPr>
              <a:t>가지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method</a:t>
            </a:r>
            <a:endParaRPr b="0" lang="en-US" sz="16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Epoch: 300 </a:t>
            </a:r>
            <a:endParaRPr b="0" lang="en-US" sz="1600" spc="-1" strike="noStrike">
              <a:latin typeface="Arial"/>
            </a:endParaRPr>
          </a:p>
        </p:txBody>
      </p:sp>
      <p:graphicFrame>
        <p:nvGraphicFramePr>
          <p:cNvPr id="99" name="표 4"/>
          <p:cNvGraphicFramePr/>
          <p:nvPr/>
        </p:nvGraphicFramePr>
        <p:xfrm>
          <a:off x="245160" y="1620000"/>
          <a:ext cx="7173360" cy="1848600"/>
        </p:xfrm>
        <a:graphic>
          <a:graphicData uri="http://schemas.openxmlformats.org/drawingml/2006/table">
            <a:tbl>
              <a:tblPr/>
              <a:tblGrid>
                <a:gridCol w="1109880"/>
                <a:gridCol w="866160"/>
                <a:gridCol w="866160"/>
                <a:gridCol w="866160"/>
                <a:gridCol w="866160"/>
                <a:gridCol w="866160"/>
                <a:gridCol w="866160"/>
                <a:gridCol w="866520"/>
              </a:tblGrid>
              <a:tr h="435960"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Speed-up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random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lamp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slim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group_slim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group_norm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group_sl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ctr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22840"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38.40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38.40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38.40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38.40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38.40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38.40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38.40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22840"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1.5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36.78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37.67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38.14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30.22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30.06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30.63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35.10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22840"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36.17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34.85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36.76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24.80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24.65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22.99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29.28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22840"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2.5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35.35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30.30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35.17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17.22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17.19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15.63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23.63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22840"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3.0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34.59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25.68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33.72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11.32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11.24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10.67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20.30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22840"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3.5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33.65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20.29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32.25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6.43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7.61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7.79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16.78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</a:tr>
              <a:tr h="222840"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4.0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32.95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20.19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31.73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5.90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6.10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4.64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  <a:tc>
                  <a:txBody>
                    <a:bodyPr lIns="9360" rIns="9360" tIns="9360" bIns="0" anchor="b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buNone/>
                      </a:pPr>
                      <a:r>
                        <a:rPr b="0" lang="en-US" sz="1400" spc="-1" strike="noStrike">
                          <a:solidFill>
                            <a:srgbClr val="000000"/>
                          </a:solidFill>
                          <a:latin typeface="Calibri"/>
                        </a:rPr>
                        <a:t>12.92</a:t>
                      </a:r>
                      <a:endParaRPr b="0" lang="en-US" sz="1400" spc="-1" strike="noStrike">
                        <a:latin typeface="Arial"/>
                      </a:endParaRPr>
                    </a:p>
                  </a:txBody>
                  <a:tcPr anchor="b" marL="9360" marR="9360">
                    <a:lnL w="12240">
                      <a:solidFill>
                        <a:srgbClr val="000000"/>
                      </a:solidFill>
                    </a:lnL>
                    <a:lnR w="12240">
                      <a:solidFill>
                        <a:srgbClr val="000000"/>
                      </a:solidFill>
                    </a:lnR>
                    <a:lnT w="12240">
                      <a:solidFill>
                        <a:srgbClr val="000000"/>
                      </a:solidFill>
                    </a:lnT>
                    <a:lnB w="12240">
                      <a:solidFill>
                        <a:srgbClr val="000000"/>
                      </a:solidFill>
                    </a:lnB>
                    <a:solidFill>
                      <a:srgbClr val="e8ebf4"/>
                    </a:solidFill>
                  </a:tcPr>
                </a:tc>
              </a:tr>
            </a:tbl>
          </a:graphicData>
        </a:graphic>
      </p:graphicFrame>
      <p:sp>
        <p:nvSpPr>
          <p:cNvPr id="100" name="TextBox 5"/>
          <p:cNvSpPr/>
          <p:nvPr/>
        </p:nvSpPr>
        <p:spPr>
          <a:xfrm>
            <a:off x="6469920" y="1259280"/>
            <a:ext cx="10285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mAP in %</a:t>
            </a:r>
            <a:endParaRPr b="0" lang="en-US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115560" y="182880"/>
            <a:ext cx="8874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US" sz="1800" spc="-1" strike="noStrike">
                <a:solidFill>
                  <a:srgbClr val="002060"/>
                </a:solidFill>
                <a:latin typeface="Calibri"/>
              </a:rPr>
              <a:t>VisDrone</a:t>
            </a:r>
            <a:r>
              <a:rPr b="1" lang="en-US" sz="1800" spc="-1" strike="noStrike">
                <a:solidFill>
                  <a:srgbClr val="002060"/>
                </a:solidFill>
                <a:latin typeface="Calibri"/>
              </a:rPr>
              <a:t> </a:t>
            </a:r>
            <a:r>
              <a:rPr b="1" lang="ko-KR" sz="1800" spc="-1" strike="noStrike">
                <a:solidFill>
                  <a:srgbClr val="002060"/>
                </a:solidFill>
                <a:latin typeface="Calibri"/>
              </a:rPr>
              <a:t>학습결과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2" name="직선 연결선 2"/>
          <p:cNvSpPr/>
          <p:nvPr/>
        </p:nvSpPr>
        <p:spPr>
          <a:xfrm>
            <a:off x="244800" y="551880"/>
            <a:ext cx="8606880" cy="36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3" name="직사각형 3"/>
          <p:cNvSpPr/>
          <p:nvPr/>
        </p:nvSpPr>
        <p:spPr>
          <a:xfrm>
            <a:off x="115560" y="552240"/>
            <a:ext cx="870084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Speed up: 1.0~4.0,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 0.5 </a:t>
            </a:r>
            <a:r>
              <a:rPr b="0" lang="ko-KR" sz="1600" spc="-1" strike="noStrike">
                <a:solidFill>
                  <a:srgbClr val="000000"/>
                </a:solidFill>
                <a:latin typeface="Calibri"/>
              </a:rPr>
              <a:t>간격</a:t>
            </a:r>
            <a:endParaRPr b="0" lang="en-US" sz="16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7</a:t>
            </a:r>
            <a:r>
              <a:rPr b="0" lang="ko-KR" sz="1600" spc="-1" strike="noStrike">
                <a:solidFill>
                  <a:srgbClr val="000000"/>
                </a:solidFill>
                <a:latin typeface="Calibri"/>
              </a:rPr>
              <a:t>가지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method</a:t>
            </a:r>
            <a:endParaRPr b="0" lang="en-US" sz="1600" spc="-1" strike="noStrike">
              <a:latin typeface="Arial"/>
            </a:endParaRPr>
          </a:p>
          <a:p>
            <a:pPr marL="285840" indent="-28584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Epoch: 300 </a:t>
            </a:r>
            <a:endParaRPr b="0" lang="en-US" sz="1600" spc="-1" strike="noStrike">
              <a:latin typeface="Arial"/>
            </a:endParaRPr>
          </a:p>
        </p:txBody>
      </p:sp>
      <p:sp>
        <p:nvSpPr>
          <p:cNvPr id="104" name="TextBox 5"/>
          <p:cNvSpPr/>
          <p:nvPr/>
        </p:nvSpPr>
        <p:spPr>
          <a:xfrm>
            <a:off x="35640" y="1531080"/>
            <a:ext cx="1028520" cy="3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mAP in %</a:t>
            </a:r>
            <a:endParaRPr b="0" lang="en-US" sz="1400" spc="-1" strike="noStrike">
              <a:latin typeface="Arial"/>
            </a:endParaRPr>
          </a:p>
        </p:txBody>
      </p:sp>
      <p:graphicFrame>
        <p:nvGraphicFramePr>
          <p:cNvPr id="105" name="차트 6"/>
          <p:cNvGraphicFramePr/>
          <p:nvPr/>
        </p:nvGraphicFramePr>
        <p:xfrm>
          <a:off x="245160" y="1838880"/>
          <a:ext cx="5981400" cy="399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6" name="폭발 1 7"/>
          <p:cNvSpPr/>
          <p:nvPr/>
        </p:nvSpPr>
        <p:spPr>
          <a:xfrm>
            <a:off x="5894280" y="2507400"/>
            <a:ext cx="664560" cy="753840"/>
          </a:xfrm>
          <a:prstGeom prst="irregularSeal1">
            <a:avLst/>
          </a:prstGeom>
          <a:solidFill>
            <a:srgbClr val="ff000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115560" y="182880"/>
            <a:ext cx="8874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ko-KR" sz="1800" spc="-1" strike="noStrike">
                <a:solidFill>
                  <a:srgbClr val="002060"/>
                </a:solidFill>
                <a:latin typeface="Calibri"/>
              </a:rPr>
              <a:t>향후 과제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8" name="직선 연결선 2"/>
          <p:cNvSpPr/>
          <p:nvPr/>
        </p:nvSpPr>
        <p:spPr>
          <a:xfrm>
            <a:off x="244800" y="551880"/>
            <a:ext cx="8606880" cy="360"/>
          </a:xfrm>
          <a:prstGeom prst="line">
            <a:avLst/>
          </a:prstGeom>
          <a:ln w="28575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9" name="직사각형 3"/>
          <p:cNvSpPr/>
          <p:nvPr/>
        </p:nvSpPr>
        <p:spPr>
          <a:xfrm>
            <a:off x="115560" y="552240"/>
            <a:ext cx="8700840" cy="118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Custom dataset</a:t>
            </a:r>
            <a:r>
              <a:rPr b="0" lang="ko-KR" sz="1600" spc="-1" strike="noStrike">
                <a:solidFill>
                  <a:srgbClr val="000000"/>
                </a:solidFill>
                <a:latin typeface="Calibri"/>
              </a:rPr>
              <a:t>에 적용해 보기</a:t>
            </a:r>
            <a:endParaRPr b="0" lang="en-US" sz="1600" spc="-1" strike="noStrike">
              <a:latin typeface="Arial"/>
            </a:endParaRP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for_yolov7 </a:t>
            </a:r>
            <a:r>
              <a:rPr b="0" lang="ko-KR" sz="1600" spc="-1" strike="noStrike">
                <a:solidFill>
                  <a:srgbClr val="000000"/>
                </a:solidFill>
                <a:latin typeface="Calibri"/>
              </a:rPr>
              <a:t>코드 설명 자료 만들기</a:t>
            </a:r>
            <a:endParaRPr b="0" lang="en-US" sz="1600" spc="-1" strike="noStrike">
              <a:latin typeface="Arial"/>
            </a:endParaRPr>
          </a:p>
          <a:p>
            <a:pPr marL="285840" indent="-285840">
              <a:lnSpc>
                <a:spcPct val="150000"/>
              </a:lnSpc>
              <a:buClr>
                <a:srgbClr val="000000"/>
              </a:buClr>
              <a:buFont typeface="StarSymbol"/>
              <a:buChar char="-"/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Random</a:t>
            </a:r>
            <a:r>
              <a:rPr b="0" lang="ko-KR" sz="1600" spc="-1" strike="noStrike">
                <a:solidFill>
                  <a:srgbClr val="000000"/>
                </a:solidFill>
                <a:latin typeface="Calibri"/>
              </a:rPr>
              <a:t>과 </a:t>
            </a: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lamp method </a:t>
            </a:r>
            <a:r>
              <a:rPr b="0" lang="ko-KR" sz="1600" spc="-1" strike="noStrike">
                <a:solidFill>
                  <a:srgbClr val="000000"/>
                </a:solidFill>
                <a:latin typeface="Calibri"/>
              </a:rPr>
              <a:t>성능의 일관성 확인 및 원인 분석</a:t>
            </a:r>
            <a:endParaRPr b="0" lang="en-US" sz="1600" spc="-1" strike="noStrike">
              <a:latin typeface="Arial"/>
            </a:endParaRPr>
          </a:p>
        </p:txBody>
      </p:sp>
    </p:spTree>
  </p:cSld>
  <mc:AlternateContent>
    <mc:Choice Requires="p14">
      <p:transition spd="slow" advTm="0" p14:dur="2000"/>
    </mc:Choice>
    <mc:Fallback>
      <p:transition spd="slow" advTm="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31936</TotalTime>
  <Application>LibreOffice/7.3.7.2$Linux_X86_64 LibreOffice_project/30$Build-2</Application>
  <AppVersion>15.0000</AppVersion>
  <Words>1238</Words>
  <Paragraphs>192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2023-11-16T02:40:12Z</dcterms:created>
  <dc:creator>hogijung</dc:creator>
  <dc:description/>
  <dc:language>en-US</dc:language>
  <cp:lastModifiedBy/>
  <dcterms:modified xsi:type="dcterms:W3CDTF">2025-08-14T15:50:46Z</dcterms:modified>
  <cp:revision>97</cp:revision>
  <dc:subject/>
  <dc:title>PowerPoint 프레젠테이션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화면 슬라이드 쇼(4:3)</vt:lpwstr>
  </property>
  <property fmtid="{D5CDD505-2E9C-101B-9397-08002B2CF9AE}" pid="3" name="Slides">
    <vt:i4>15</vt:i4>
  </property>
</Properties>
</file>